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ated access" id="{b9d8c7f3-50ec-c3c1-2af5-b1a723f48b70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v4 pool can be attached to a hook: a contract the pool calls automatically before every swap or liquidity deposit. Here the hook checks an allowlist (or a KYC proof / attestation): if the user is allowed, the operation goes through; otherwise the whole transaction reverts. Key point: the restriction applies to this pool only, not to the token, so anyone can create an open pool on the same pair. Trade-off: fewer arbitrageurs and aggregators can reach the pool, so its price may track the market less closely.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Gated Uniswap v4 Pools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hook checks the user before every swap or liquidity deposit</a:t>
            </a:r>
            <a:endParaRPr lang="en-US" sz="1600" dirty="0"/>
          </a:p>
        </p:txBody>
      </p:sp>
      <p:sp>
        <p:nvSpPr>
          <p:cNvPr id="4" name="Circle User"/>
          <p:cNvSpPr/>
          <p:nvPr/>
        </p:nvSpPr>
        <p:spPr>
          <a:xfrm>
            <a:off x="640080" y="14173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con Us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609344"/>
            <a:ext cx="347472" cy="347472"/>
          </a:xfrm>
          <a:prstGeom prst="rect">
            <a:avLst/>
          </a:prstGeom>
        </p:spPr>
      </p:pic>
      <p:sp>
        <p:nvSpPr>
          <p:cNvPr id="6" name="Label User"/>
          <p:cNvSpPr txBox="1"/>
          <p:nvPr/>
        </p:nvSpPr>
        <p:spPr>
          <a:xfrm>
            <a:off x="274320" y="222199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User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swap or deposit</a:t>
            </a:r>
            <a:endParaRPr lang="en-US" sz="1400" dirty="0"/>
          </a:p>
        </p:txBody>
      </p:sp>
      <p:sp>
        <p:nvSpPr>
          <p:cNvPr id="7" name="Arrow 0"/>
          <p:cNvSpPr/>
          <p:nvPr/>
        </p:nvSpPr>
        <p:spPr>
          <a:xfrm>
            <a:off x="1444752" y="1783080"/>
            <a:ext cx="722376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Circle Router"/>
          <p:cNvSpPr/>
          <p:nvPr/>
        </p:nvSpPr>
        <p:spPr>
          <a:xfrm>
            <a:off x="2240280" y="14173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con Route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304" y="1609344"/>
            <a:ext cx="347472" cy="347472"/>
          </a:xfrm>
          <a:prstGeom prst="rect">
            <a:avLst/>
          </a:prstGeom>
        </p:spPr>
      </p:pic>
      <p:sp>
        <p:nvSpPr>
          <p:cNvPr id="10" name="Label Router"/>
          <p:cNvSpPr txBox="1"/>
          <p:nvPr/>
        </p:nvSpPr>
        <p:spPr>
          <a:xfrm>
            <a:off x="1874520" y="222199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Router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forwards the request</a:t>
            </a:r>
            <a:endParaRPr lang="en-US" sz="1400" dirty="0"/>
          </a:p>
        </p:txBody>
      </p:sp>
      <p:sp>
        <p:nvSpPr>
          <p:cNvPr id="11" name="Arrow 1"/>
          <p:cNvSpPr/>
          <p:nvPr/>
        </p:nvSpPr>
        <p:spPr>
          <a:xfrm>
            <a:off x="3044952" y="1783080"/>
            <a:ext cx="722376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Circle v4 Pool"/>
          <p:cNvSpPr/>
          <p:nvPr/>
        </p:nvSpPr>
        <p:spPr>
          <a:xfrm>
            <a:off x="3840480" y="14173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con v4 Pool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2504" y="1609344"/>
            <a:ext cx="347472" cy="347472"/>
          </a:xfrm>
          <a:prstGeom prst="rect">
            <a:avLst/>
          </a:prstGeom>
        </p:spPr>
      </p:pic>
      <p:sp>
        <p:nvSpPr>
          <p:cNvPr id="14" name="Label v4 Pool"/>
          <p:cNvSpPr txBox="1"/>
          <p:nvPr/>
        </p:nvSpPr>
        <p:spPr>
          <a:xfrm>
            <a:off x="3474720" y="222199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v4 Pool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calls the hook</a:t>
            </a:r>
            <a:endParaRPr lang="en-US" sz="1400" dirty="0"/>
          </a:p>
        </p:txBody>
      </p:sp>
      <p:sp>
        <p:nvSpPr>
          <p:cNvPr id="15" name="Arrow 2"/>
          <p:cNvSpPr/>
          <p:nvPr/>
        </p:nvSpPr>
        <p:spPr>
          <a:xfrm>
            <a:off x="4645152" y="1783080"/>
            <a:ext cx="722376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Circle Allowlist hook"/>
          <p:cNvSpPr/>
          <p:nvPr/>
        </p:nvSpPr>
        <p:spPr>
          <a:xfrm>
            <a:off x="5440680" y="14173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 Allowlist hoo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704" y="1609344"/>
            <a:ext cx="347472" cy="347472"/>
          </a:xfrm>
          <a:prstGeom prst="rect">
            <a:avLst/>
          </a:prstGeom>
        </p:spPr>
      </p:pic>
      <p:sp>
        <p:nvSpPr>
          <p:cNvPr id="18" name="Label Allowlist hook"/>
          <p:cNvSpPr txBox="1"/>
          <p:nvPr/>
        </p:nvSpPr>
        <p:spPr>
          <a:xfrm>
            <a:off x="5074920" y="222199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Allowlist hook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allowed?</a:t>
            </a:r>
            <a:endParaRPr lang="en-US" sz="1400" dirty="0"/>
          </a:p>
        </p:txBody>
      </p:sp>
      <p:sp>
        <p:nvSpPr>
          <p:cNvPr id="19" name="Arrow Allowed"/>
          <p:cNvSpPr/>
          <p:nvPr/>
        </p:nvSpPr>
        <p:spPr>
          <a:xfrm flipV="1">
            <a:off x="6217920" y="1485900"/>
            <a:ext cx="448056" cy="29718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Outcome Allowed"/>
          <p:cNvSpPr/>
          <p:nvPr/>
        </p:nvSpPr>
        <p:spPr>
          <a:xfrm>
            <a:off x="6720840" y="1234440"/>
            <a:ext cx="196596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9050">
            <a:solidFill>
              <a:schemeClr val="accent3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1376172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178040" y="1261872"/>
            <a:ext cx="1417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Allowed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operation executes</a:t>
            </a:r>
            <a:endParaRPr lang="en-US" sz="1300" dirty="0"/>
          </a:p>
        </p:txBody>
      </p:sp>
      <p:sp>
        <p:nvSpPr>
          <p:cNvPr id="23" name="Arrow Denied"/>
          <p:cNvSpPr/>
          <p:nvPr/>
        </p:nvSpPr>
        <p:spPr>
          <a:xfrm>
            <a:off x="6217920" y="1783080"/>
            <a:ext cx="448056" cy="34290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4" name="Outcome Denied"/>
          <p:cNvSpPr/>
          <p:nvPr/>
        </p:nvSpPr>
        <p:spPr>
          <a:xfrm>
            <a:off x="6720840" y="1874520"/>
            <a:ext cx="196596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9050">
            <a:solidFill>
              <a:schemeClr val="accent4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2016252"/>
            <a:ext cx="219456" cy="21945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178040" y="1901952"/>
            <a:ext cx="1417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Denied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transaction reverts</a:t>
            </a:r>
            <a:endParaRPr lang="en-US" sz="1300" dirty="0"/>
          </a:p>
        </p:txBody>
      </p:sp>
      <p:sp>
        <p:nvSpPr>
          <p:cNvPr id="27" name="Card What you control"/>
          <p:cNvSpPr/>
          <p:nvPr/>
        </p:nvSpPr>
        <p:spPr>
          <a:xfrm>
            <a:off x="457200" y="306324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246120"/>
            <a:ext cx="256032" cy="256032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987552" y="3209544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you control</a:t>
            </a:r>
            <a:endParaRPr lang="en-US" sz="1600" dirty="0"/>
          </a:p>
        </p:txBody>
      </p:sp>
      <p:sp>
        <p:nvSpPr>
          <p:cNvPr id="30" name="Text 21"/>
          <p:cNvSpPr txBox="1"/>
          <p:nvPr/>
        </p:nvSpPr>
        <p:spPr>
          <a:xfrm>
            <a:off x="640080" y="3630168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Who can swap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Who can provide liquidity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Who can create the pool</a:t>
            </a:r>
            <a:endParaRPr lang="en-US" sz="1400" dirty="0"/>
          </a:p>
        </p:txBody>
      </p:sp>
      <p:sp>
        <p:nvSpPr>
          <p:cNvPr id="31" name="Card How users are verified"/>
          <p:cNvSpPr/>
          <p:nvPr/>
        </p:nvSpPr>
        <p:spPr>
          <a:xfrm>
            <a:off x="3246120" y="306324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000" y="3246120"/>
            <a:ext cx="256032" cy="256032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3776472" y="3209544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How users are verified</a:t>
            </a:r>
            <a:endParaRPr lang="en-US" sz="1600" dirty="0"/>
          </a:p>
        </p:txBody>
      </p:sp>
      <p:sp>
        <p:nvSpPr>
          <p:cNvPr id="34" name="Text 24"/>
          <p:cNvSpPr txBox="1"/>
          <p:nvPr/>
        </p:nvSpPr>
        <p:spPr>
          <a:xfrm>
            <a:off x="3429000" y="3630168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On-chain allowlist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KYC or signed attestation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Holding an NFT</a:t>
            </a:r>
            <a:endParaRPr lang="en-US" sz="1400" dirty="0"/>
          </a:p>
        </p:txBody>
      </p:sp>
      <p:sp>
        <p:nvSpPr>
          <p:cNvPr id="35" name="Card Limitations"/>
          <p:cNvSpPr/>
          <p:nvPr/>
        </p:nvSpPr>
        <p:spPr>
          <a:xfrm>
            <a:off x="6035040" y="306324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7920" y="3246120"/>
            <a:ext cx="256032" cy="256032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6565392" y="3209544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Limitations</a:t>
            </a:r>
            <a:endParaRPr lang="en-US" sz="1600" dirty="0"/>
          </a:p>
        </p:txBody>
      </p:sp>
      <p:sp>
        <p:nvSpPr>
          <p:cNvPr id="38" name="Text 27"/>
          <p:cNvSpPr txBox="1"/>
          <p:nvPr/>
        </p:nvSpPr>
        <p:spPr>
          <a:xfrm>
            <a:off x="6217920" y="3630168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Per pool, not per token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Less arbitrage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Limited routing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niswap Gated">
  <a:themeElements>
    <a:clrScheme name="Uniswap Gated">
      <a:dk1>
        <a:srgbClr val="1B1033"/>
      </a:dk1>
      <a:lt1>
        <a:srgbClr val="FFFFFF"/>
      </a:lt1>
      <a:dk2>
        <a:srgbClr val="5B5470"/>
      </a:dk2>
      <a:lt2>
        <a:srgbClr val="F6F0FA"/>
      </a:lt2>
      <a:accent1>
        <a:srgbClr val="E8338B"/>
      </a:accent1>
      <a:accent2>
        <a:srgbClr val="2D1B5E"/>
      </a:accent2>
      <a:accent3>
        <a:srgbClr val="1E9E6A"/>
      </a:accent3>
      <a:accent4>
        <a:srgbClr val="D64545"/>
      </a:accent4>
      <a:accent5>
        <a:srgbClr val="B9A9D6"/>
      </a:accent5>
      <a:accent6>
        <a:srgbClr val="FFB3D6"/>
      </a:accent6>
      <a:hlink>
        <a:srgbClr val="E8338B"/>
      </a:hlink>
      <a:folHlink>
        <a:srgbClr val="2D1B5E"/>
      </a:folHlink>
    </a:clrScheme>
    <a:fontScheme name="Uniswap Gate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Gated Uniswap v4 Pools</dc:title>
  <dc:subject>PptxGenJS Presentation</dc:subject>
  <dc:creator>PptxGenJS</dc:creator>
  <cp:lastModifiedBy>PptxGenJS</cp:lastModifiedBy>
  <cp:revision>1</cp:revision>
  <dcterms:created xsi:type="dcterms:W3CDTF">2026-10-13T08:29:31Z</dcterms:created>
  <dcterms:modified xsi:type="dcterms:W3CDTF">2026-10-13T08:29:31Z</dcterms:modified>
</cp:coreProperties>
</file>